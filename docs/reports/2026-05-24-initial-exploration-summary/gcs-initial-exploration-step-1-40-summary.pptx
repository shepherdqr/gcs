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1a695570f04a7a" /><Relationship Type="http://schemas.openxmlformats.org/officeDocument/2006/relationships/extended-properties" Target="/docProps/app.xml" Id="Rd6889e7a9e3040ab" /><Relationship Type="http://schemas.openxmlformats.org/officeDocument/2006/relationships/officeDocument" Target="/ppt/presentation.xml" Id="R772f3d9af7ee42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a1d5da16354312"/>
  </p:sldMasterIdLst>
  <p:notesMasterIdLst>
    <p:notesMasterId xmlns:r="http://schemas.openxmlformats.org/officeDocument/2006/relationships" r:id="R2f9816eebf3843b9"/>
  </p:notesMasterIdLst>
  <p:sldIdLst>
    <p:sldId xmlns:r="http://schemas.openxmlformats.org/officeDocument/2006/relationships" id="256" r:id="Rb74e95fa83834573"/>
    <p:sldId xmlns:r="http://schemas.openxmlformats.org/officeDocument/2006/relationships" id="257" r:id="R386e2d7d7ea94239"/>
    <p:sldId xmlns:r="http://schemas.openxmlformats.org/officeDocument/2006/relationships" id="258" r:id="R2a7cff9fc1ad46c9"/>
    <p:sldId xmlns:r="http://schemas.openxmlformats.org/officeDocument/2006/relationships" id="259" r:id="Ra91c5409d5334c18"/>
    <p:sldId xmlns:r="http://schemas.openxmlformats.org/officeDocument/2006/relationships" id="260" r:id="Re5c440a9e9f948d4"/>
    <p:sldId xmlns:r="http://schemas.openxmlformats.org/officeDocument/2006/relationships" id="261" r:id="R41e7c008136a4688"/>
    <p:sldId xmlns:r="http://schemas.openxmlformats.org/officeDocument/2006/relationships" id="262" r:id="R17616c91cb2742bc"/>
    <p:sldId xmlns:r="http://schemas.openxmlformats.org/officeDocument/2006/relationships" id="263" r:id="Rfb356e5644e0485f"/>
    <p:sldId xmlns:r="http://schemas.openxmlformats.org/officeDocument/2006/relationships" id="264" r:id="R366705352e8c4e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a1d5da16354312" /><Relationship Type="http://schemas.openxmlformats.org/officeDocument/2006/relationships/theme" Target="/ppt/theme/theme1.xml" Id="Rb45bedca403048fd" /><Relationship Type="http://schemas.openxmlformats.org/officeDocument/2006/relationships/notesMaster" Target="/ppt/notesMasters/notesMaster1.xml" Id="R2f9816eebf3843b9" /><Relationship Type="http://schemas.openxmlformats.org/officeDocument/2006/relationships/presProps" Target="/ppt/presProps.xml" Id="Rb2dcaabb01df4941" /><Relationship Type="http://schemas.openxmlformats.org/officeDocument/2006/relationships/viewProps" Target="/ppt/viewProps.xml" Id="Re194d0eff84b4355" /><Relationship Type="http://schemas.openxmlformats.org/officeDocument/2006/relationships/tableStyles" Target="/ppt/tableStyles.xml" Id="R5e8aac9f759b44cd" /><Relationship Type="http://schemas.openxmlformats.org/officeDocument/2006/relationships/slide" Target="/ppt/slides/slide1.xml" Id="Rb74e95fa83834573" /><Relationship Type="http://schemas.openxmlformats.org/officeDocument/2006/relationships/slide" Target="/ppt/slides/slide2.xml" Id="R386e2d7d7ea94239" /><Relationship Type="http://schemas.openxmlformats.org/officeDocument/2006/relationships/slide" Target="/ppt/slides/slide3.xml" Id="R2a7cff9fc1ad46c9" /><Relationship Type="http://schemas.openxmlformats.org/officeDocument/2006/relationships/slide" Target="/ppt/slides/slide4.xml" Id="Ra91c5409d5334c18" /><Relationship Type="http://schemas.openxmlformats.org/officeDocument/2006/relationships/slide" Target="/ppt/slides/slide5.xml" Id="Re5c440a9e9f948d4" /><Relationship Type="http://schemas.openxmlformats.org/officeDocument/2006/relationships/slide" Target="/ppt/slides/slide6.xml" Id="R41e7c008136a4688" /><Relationship Type="http://schemas.openxmlformats.org/officeDocument/2006/relationships/slide" Target="/ppt/slides/slide7.xml" Id="R17616c91cb2742bc" /><Relationship Type="http://schemas.openxmlformats.org/officeDocument/2006/relationships/slide" Target="/ppt/slides/slide8.xml" Id="Rfb356e5644e0485f" /><Relationship Type="http://schemas.openxmlformats.org/officeDocument/2006/relationships/slide" Target="/ppt/slides/slide9.xml" Id="R366705352e8c4e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598a29b32f74e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4ab6c264e64e17" /><Relationship Type="http://schemas.openxmlformats.org/officeDocument/2006/relationships/notesMaster" Target="/ppt/notesMasters/notesMaster1.xml" Id="Red8f7bc86a9e4c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98c1c375924eff" /><Relationship Type="http://schemas.openxmlformats.org/officeDocument/2006/relationships/notesMaster" Target="/ppt/notesMasters/notesMaster1.xml" Id="R86939f0d43e44f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fb9699c2e64ab5" /><Relationship Type="http://schemas.openxmlformats.org/officeDocument/2006/relationships/notesMaster" Target="/ppt/notesMasters/notesMaster1.xml" Id="Rd5fb6025692f4b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ed5ae8e5024904" /><Relationship Type="http://schemas.openxmlformats.org/officeDocument/2006/relationships/notesMaster" Target="/ppt/notesMasters/notesMaster1.xml" Id="Ra91eb1572a6048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23f3310ce747d9" /><Relationship Type="http://schemas.openxmlformats.org/officeDocument/2006/relationships/notesMaster" Target="/ppt/notesMasters/notesMaster1.xml" Id="R0250e65bc9f24a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51d56a80ad430d" /><Relationship Type="http://schemas.openxmlformats.org/officeDocument/2006/relationships/notesMaster" Target="/ppt/notesMasters/notesMaster1.xml" Id="R9a2e35795f5148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b7f51e54224bb6" /><Relationship Type="http://schemas.openxmlformats.org/officeDocument/2006/relationships/notesMaster" Target="/ppt/notesMasters/notesMaster1.xml" Id="R4c22796b9584401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06d15d2a984d5f" /><Relationship Type="http://schemas.openxmlformats.org/officeDocument/2006/relationships/notesMaster" Target="/ppt/notesMasters/notesMaster1.xml" Id="Refd6202dc11243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1542a17f8c4d1e" /><Relationship Type="http://schemas.openxmlformats.org/officeDocument/2006/relationships/notesMaster" Target="/ppt/notesMasters/notesMaster1.xml" Id="R12e1b33c453440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d9deba80cb492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ab0045ae26d4e15" /><Relationship Type="http://schemas.openxmlformats.org/officeDocument/2006/relationships/slideLayout" Target="/ppt/slideLayouts/slideLayout2.xml" Id="R30444084dfa346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444084dfa346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d9a77af8a84848" /><Relationship Type="http://schemas.openxmlformats.org/officeDocument/2006/relationships/notesSlide" Target="/ppt/notesSlides/notesSlide1.xml" Id="Rcd6e6087184d41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c5f416e21149d0" /><Relationship Type="http://schemas.openxmlformats.org/officeDocument/2006/relationships/notesSlide" Target="/ppt/notesSlides/notesSlide2.xml" Id="R6cfc1a08bc8441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d8a3ba4d6e4ca9" /><Relationship Type="http://schemas.openxmlformats.org/officeDocument/2006/relationships/image" Target="/ppt/media/image.png" Id="Rd9fd5ca9bb7a44f3" /><Relationship Type="http://schemas.openxmlformats.org/officeDocument/2006/relationships/image" Target="/ppt/media/image.svg" Id="R3ea7b08a34ac416a" /><Relationship Type="http://schemas.openxmlformats.org/officeDocument/2006/relationships/notesSlide" Target="/ppt/notesSlides/notesSlide3.xml" Id="Rc654ee1879b24f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9b00f20eac4c5e" /><Relationship Type="http://schemas.openxmlformats.org/officeDocument/2006/relationships/image" Target="/ppt/media/image2.png" Id="R4f2bef71ccd741eb" /><Relationship Type="http://schemas.openxmlformats.org/officeDocument/2006/relationships/image" Target="/ppt/media/image2.svg" Id="R280567217833446d" /><Relationship Type="http://schemas.openxmlformats.org/officeDocument/2006/relationships/notesSlide" Target="/ppt/notesSlides/notesSlide4.xml" Id="R385adca7bcff41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586216742d4632" /><Relationship Type="http://schemas.openxmlformats.org/officeDocument/2006/relationships/notesSlide" Target="/ppt/notesSlides/notesSlide5.xml" Id="R6128ce9d995544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e78f800b1e4a36" /><Relationship Type="http://schemas.openxmlformats.org/officeDocument/2006/relationships/notesSlide" Target="/ppt/notesSlides/notesSlide6.xml" Id="R72689f19b1864c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6b992dd0d44a9b" /><Relationship Type="http://schemas.openxmlformats.org/officeDocument/2006/relationships/notesSlide" Target="/ppt/notesSlides/notesSlide7.xml" Id="Rafc2bc1e626d46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4c11aabdd545f1" /><Relationship Type="http://schemas.openxmlformats.org/officeDocument/2006/relationships/notesSlide" Target="/ppt/notesSlides/notesSlide8.xml" Id="Rb3b6a23bc6c04f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b06759c2f49f2" /><Relationship Type="http://schemas.openxmlformats.org/officeDocument/2006/relationships/image" Target="/ppt/media/image3.png" Id="R9f12ae7d3c934e84" /><Relationship Type="http://schemas.openxmlformats.org/officeDocument/2006/relationships/image" Target="/ppt/media/image3.svg" Id="Ra9d1abe09b9f48c1" /><Relationship Type="http://schemas.openxmlformats.org/officeDocument/2006/relationships/notesSlide" Target="/ppt/notesSlides/notesSlide9.xml" Id="R3b5e861cbdd448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AF7231-45AE-4D9C-B951-058E4AF1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BDC196-093D-48F8-A8A7-EFF6E0FF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F61180-5682-4338-BCC4-5C805A46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rPr>
              <a:t>阶段性总结 / 初期探索闭环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E8EFD-E30A-4B56-8148-7E2FBD38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1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GCS 项目初期探索已经收束为一条可验证的工程证据链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E309E-BC1C-4435-93FB-F897EF20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790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当前汇报聚焦 Step 1-40：整体框架图、执行证据地图、四个阶段主题和下一步展示候选。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B4D07-1C4A-4C77-BB3C-B751681D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05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33FEF-C5DD-4492-AE53-DA579D5D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7A4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3157A4"/>
                </a:solidFill>
                <a:latin typeface="Microsoft YaHei UI"/>
                <a:ea typeface="Microsoft YaHei UI"/>
                <a:cs typeface="Microsoft YaHei UI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3A460-8EE3-4216-B740-21928264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已完成并推送的执行步骤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F8E44-5DC6-4FD7-A414-03EE0A01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480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766E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0F766E"/>
                </a:solidFill>
                <a:latin typeface="Microsoft YaHei UI"/>
                <a:ea typeface="Microsoft YaHei UI"/>
                <a:cs typeface="Microsoft YaHei UI"/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FE1FC-229D-459F-9687-987B66A8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671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CTest 发现的 GTest 基线用例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C3F7F-671B-406D-81B7-322E50A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7791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B7791F"/>
                </a:solidFill>
                <a:latin typeface="Microsoft YaHei UI"/>
                <a:ea typeface="Microsoft YaHei UI"/>
                <a:cs typeface="Microsoft YaHei U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D1A7F-4FFC-4AFB-AE3E-02DC9925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2686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默认质量门：run-quality-gates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E4DD0-2D92-4DBF-ACE0-78BCE31A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65D8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765D87"/>
                </a:solidFill>
                <a:latin typeface="Microsoft YaHei UI"/>
                <a:ea typeface="Microsoft YaHei UI"/>
                <a:cs typeface="Microsoft YaHei U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ED2AF-C281-4B81-A48A-CD85EABC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671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核心汇报图：Figure 1 + Figure 71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A9187-2A05-4265-9D06-3D22A38A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Snapshot: 2026-05-24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8EB1A-D60F-4B9A-99C3-64528FEA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C26511-0AF6-4931-BD48-D2E6CBC6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docs/architecture/71-step-1-40-execution-report.md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2EA28-51E8-451A-B268-ED57E431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81690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FF5CBF-673F-4FAF-B6F5-508D161C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6EB2D5-E4CD-42B7-AE01-70112729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D8742F0-2404-4085-A58A-AA88965E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阶段结论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CD4A2-0522-4D7B-B843-0022A56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858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这不是一份步骤清单，而是一次从概念到证据边界的转化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4AC35-8083-43D6-9DF7-455FF58D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Step 1-40 的共同结果：GCS 的核心模块、运行时、IO、诊断、Viewer 和质量门已经共享同一套公开报告语言。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D87A3-8B57-4530-BB03-290768AC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33909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A7B3D-C2D0-4303-AFA7-C285AF60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71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56B87-5852-4349-95E6-718B36A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AD74C-EE13-4232-BE35-E18EBDC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稳定的领域真相被固定下来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578FC-36B3-4EDA-BFDE-4FF36FC0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2971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Kernel、约束目录、关联图、分解规划、数值任务、诊断和运行时边界都拥有可测试契约。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702C3-D5A1-4375-BB6F-A01A785B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3909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E0D31-1096-43DE-9EB9-F0BF5809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571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6CDDC-5183-406C-B755-161B124B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8BEC2-69D3-4922-9343-3570A5C7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289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求解证据开始真实运行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1943F-B565-4A69-B048-1AFC59A7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2971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阻尼 Gauss-Newton、JSON 场景、fixture/golden、promotion gate 和 rank evidence 不再只是文档描述。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B4B3C-E917-4DF3-B2CD-1B1F6C9B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3909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60318B-9D13-4A10-9EDF-8942E3DB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571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6D768-379D-48C2-8893-87837FF1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2971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REPORTING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4094B-9F2C-488C-BB5C-6D7C3D77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2971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公开证据可以被人和工具消费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F58BCB-0837-4875-A191-31479B7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2971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Runtime、diagnostics、viewer overlay、atlas 和 Figure 71 形成可复查的阶段性报告系统。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041BB-DE91-44EE-BE84-8AE86FD7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CF5F3-2B74-4E6D-AE9D-EE013774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00675"/>
            <a:ext cx="10458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当前最重要的资产：整体框架 Figure 1 解释 GCS 要解决什么；Step 1-40 Figure 71 证明这些边界已经逐步落地。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834667-1E80-41ED-86F1-E42DD7B5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A15C7-85CC-483D-914B-417539D4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GCS architecture docs, snapshot 2026-05-24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04383-BBDA-4186-BE7E-890B0D7A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56038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D9A78-E9E0-4CC4-83EE-A0AD99F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E3FADE-472D-4796-AC32-0DCA2C47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90272CF-26D3-46B1-B1BC-5A10B5DC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rPr>
              <a:t>整体框架图 / Figure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1E4F6-47D8-4495-8D38-1F6E5DDF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47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GCS 的核心框架：把有限站点上的局部求解拼成可验证的全局状态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d5ca9bb7a44f3">
            <a:extLst>
              <a:ext uri="{96DAC541-7B7A-43D3-8B79-37D633B846F1}">
                <asvg:svgBlip xmlns:asvg="http://schemas.microsoft.com/office/drawing/2016/SVG/main" r:embed="R3ea7b08a34ac41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" y="1200150"/>
            <a:ext cx="114300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3066D1-DB02-4287-8AD3-29E6EED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85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3157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E9DAB-0542-46C7-959A-BE4969A7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55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rPr>
              <a:t>READING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08925-C7FA-40F1-9384-2E037FD4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55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这张图把 fixture 几何、incidence/site base、rank/residual evidence、runtime pipeline 和 topos 语义放在同一画布上。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CC4DF-D142-41ED-A2F2-0A75C13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888BC-62AC-4FB6-AEA6-51C6681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docs/architecture/70-visualization/assets/figure1-gcs-local-to-global.svg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8F8337-A673-4A87-AB96-1D576BDD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865775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F6D62-132E-4660-A0C8-31B9801C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949C56-52BD-4D3C-8AAC-44F1147F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89BC31-8870-48E4-B10B-BC5559E4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前 40 步执行图片 / Figure 71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61F06-A579-471E-AF4B-369D0308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Step 1-40 被组织成证据边界地图，而不是平铺的任务列表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bef71ccd741eb">
            <a:extLst>
              <a:ext uri="{96DAC541-7B7A-43D3-8B79-37D633B846F1}">
                <asvg:svgBlip xmlns:asvg="http://schemas.microsoft.com/office/drawing/2016/SVG/main" r:embed="R28056721783344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5750" y="1181100"/>
            <a:ext cx="11620500" cy="430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94A28-43F5-4B85-B985-4F39A57E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B77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84AA1-D7AC-495E-B247-9BC8E877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53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QA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009AD-E086-47D0-B68E-80D2C361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53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Figure 71 覆盖 Step 1-40；HTML/CSS compositor 结构 QA 已通过，确认没有遗漏步骤。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D7F30-9D96-4157-821B-62851A4F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83843-8B26-48BA-8FBD-9E6E489E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figure71-gcs-step-1-40-evidence-map.svg + QA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E53EB6-A666-491D-9F90-30011108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69318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102C09-AC53-47B3-ADBF-737BEB44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257BEF9-48A1-4EE0-82F1-DB2E5818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110AA3-8396-437C-8BF4-A8C3BA44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rPr>
              <a:t>Step 1-13 / Canonical solver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0C16E-66B4-4C72-98C3-61066AE7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第一批工作把 GCS 的核心模块边界固定为可测试契约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CEE41-F55F-426D-ABEB-5EB2F459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关键词：稳定领域真相、结构证据、运行时提交边界、公开投影。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E7DAD-FF22-4EA3-9A06-201E05B0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FEF8CE-AAEE-4C9D-9353-87954C96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1089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kernel 到 viewer 的第一条完整公共证据链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B4B15-D8F1-44EC-A742-AC2461B2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DA830-7C49-4CCD-AEBC-B696F1A0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B7C3F-A5B7-41A0-A2C4-0225FA89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AC7C9-C262-486B-AA0E-0C4D2CC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050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Kernel 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643B2-B2FF-4EF2-B78A-13381684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稳定 ID、不可变 snapshot、context、report、delta 与验证契约。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89C5A-BF6F-4B81-AA0C-3B6C7C60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82A29-6D6D-46FD-A845-13E8BB85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C8525A-B0DF-4E44-A8C1-6B71B4F1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74777-4D5D-4188-AB1B-97EE3239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050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约束语义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164EB-9639-4C54-89FB-171683F8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717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约束定义、实体签名、参数 schema、残差与 Jacobian 契约。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3C64F-B018-4F72-9581-3AB88828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9584DA-27E5-4C0E-88FB-5E2FCE93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3CE09B-7A70-401F-B118-C2E57DE3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B2F61E-7A5A-42A4-9E09-E56DEB95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050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关联结构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752AAC-BE30-4B04-8C87-730B54C2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717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incidence hypergraph、反向索引、刚体投影与图 dump。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59129A-09D0-482C-B117-6AE80C7C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D2EF83-4B68-451C-A547-32BAD988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7338DB-958A-42A8-B8F1-A510EC1C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1EBF4-9A66-4014-BDDF-96DDACF6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050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分解规划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4017B-3B61-491E-B8D8-4B329FE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717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cover validation、边界投影、覆盖证明和 unsupported-plan evidence。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B90D2-AEEF-40BE-AB37-5DC4E69A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A02714-C607-495B-A7F8-B923EA8B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662D4A-2683-4C07-9F20-658364A6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36D90-F186-494F-A403-20397784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数值任务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04B7DF-47F5-463D-9522-D056FE0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任务验证、方程装配、残差顺序、变量顺序和负例测试。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5AAE77-48B3-44FF-9054-E2E5DD8D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C2C1F7-F1DD-4DF1-AC0E-80CC8892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021D49-5ACF-4E2B-AA2F-A4B273F1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6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5C1E05-5658-4F0C-A646-E81963B0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765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数值证据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447B8B-EACF-41A5-968C-FE051CC7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432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残差、Jacobian、rank/condition、边界证据和 replay trace。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B7F687-20F7-4018-AD27-15260DA2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7417BF-006F-4E28-9A83-F40F56AB1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EA6891-ABF9-46C3-808D-56ADFEF7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CD0900-BCA5-4498-9B12-3367140F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765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诊断决策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AF93D1-DAA7-42DD-954A-338EBA32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432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DOF、残差提升、rank evidence、状态优先级和 typed placeholders。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BAF4702-CB6D-400A-B7BF-23E57E09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63A2D1-DDB3-419E-90EE-C9AEAB64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B73C07-CA40-4572-906C-3866900E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F29FA6-5AA7-4035-BD4F-DDE7DB5C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765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拼合诊断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226583-9092-4943-9F74-4DA525D9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32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boundary agreement、projection ID、gluing obstruction 与 mismatch conflict。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D4CDBE-1699-46CA-A7D4-E4E778FE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C03177-E9D7-44F9-9E04-7BF7C25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C3A500-8F6C-42A9-BBC2-0329938B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A0E3E0-5BA9-4460-88DF-A36FFA5C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48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运行时事务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A2B44B-1D9B-4BEE-AEF6-78DC98EC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命令验证、transaction trace、rollback、history、replay、state version。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5A872B-A4C0-400B-8095-420B5F1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A0D331-538D-4781-BA56-C7ADF6A1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5C24C6-71EC-4409-AA70-FC3254F4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57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79F5C5-EF87-4A4D-8409-44827ACB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48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IO 适配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EA4898-114F-45DF-9197-ECB8AB70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148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schema registry、canonical text/JSON、migration report、round-trip digest。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50E37F-5471-4C84-9F72-E733E7F6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27A014-1FEB-4FEB-9BAE-78B98E6B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518CE9-CAEC-4C4E-BD48-1F1E9096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11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5BD6E0-141B-49CA-87D7-049BE338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48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Viewer 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7DC06C-CB0D-4223-B8C1-008B31A6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148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只读场景投影、diagnostic overlay、command draft、history frame。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60037F-A9BB-41E9-9A30-0B5D381A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2372DC-C9BF-4518-AE37-EBCD5C63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66913F-BCA7-4E73-AC87-BEA3486A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DA436F-EDF3-408E-9EE9-506D2365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契约工具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5B205BC-2190-4DB5-8412-68518AD5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148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fixture provenance、invariant check、dependency audit 和 golden tooling。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E5CA12-E863-4BAD-A1DA-3830D6DD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04E092-D819-45CF-B276-182D24DA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55FA81B-BBAA-4003-B096-AB9C3D69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3157A4"/>
                </a:solidFill>
                <a:latin typeface="Aptos Mono"/>
                <a:ea typeface="Aptos Mono"/>
                <a:cs typeface="Aptos Mono"/>
              </a:rPr>
              <a:t>Step 13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5CA6FFB-9D95-4CC2-9B5B-32851313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跨模块质量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C3E297A-B520-46E1-8637-7031813C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负例语料、rollback evidence、parse evidence、viewer propagation check。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88B4177-A27A-4BEE-BCFA-510AEC05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E5B51E-9A8C-42B1-B290-5946839A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Step Report rows 1-13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C1F0CDA-5440-445F-A434-9F25050B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600703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7534B6-7B70-42D9-A431-2E6F652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04AA999-795F-4E62-BC40-B985858C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7050A9-937E-4656-9602-359C3F40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Step 14-18 / Algorithm and IO deepening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4040B-6F6D-4D69-AD9A-E3D8A347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第二批工作让求解、持久化和质量门从脚手架进入可执行状态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D7C7F-CD28-4820-A60F-429AB0B7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981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这批的关键价值是：算法可以迭代，场景可以往返，失败可以解释，质量可以一键复查。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F71CD-8048-4CF8-B003-EF048712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314B5-CDD8-4FD4-8727-C1A30478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AEDC3-205E-4B5C-9572-8C4D8F6F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Step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2C4D9-A2AB-4017-8A5F-404AFA0A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954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阻尼 GN 求解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548C8-0C30-4D78-9801-203ABFCC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identity placeholder 被 dense damped Gauss-Newton、trust clamp 与 convergence trace 替换。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6DC2A-8610-43E1-ACB5-7AB52447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8A1DCC-DF74-4052-A6A0-4CAE01FB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90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647DA-01F1-4B0B-A5D9-C2CBFD11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050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Step 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48B58-82DF-4878-924E-C99BC916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954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JSON 场景 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7D2B8-CBA3-432E-A20C-1B1E2245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6217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可读 JSON schema、bounded parser、legacy migration、round trip。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43B3F-0A5B-444F-B95E-4B95392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CF557-82E2-4C20-A0FA-FA8A6ACA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90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39794-FDAA-4E3F-B2B9-19C576B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050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Step 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EA60C-500E-41FC-AC3A-D23E574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954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冲突/冗余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6B6FD-F279-4360-AE60-051EA3DD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6217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残差 conflict 与 over-constrained redundancy 进入公开诊断工具。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BAAA3-9D43-4700-870A-B027F106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6BAC98-4473-4DEB-9471-47831EEC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90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04F58-5FAA-450F-A84D-BE42ABF6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Step 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4B494-C87D-4D1A-8110-AC8242CC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954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Fixture corpus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CE352E-3D27-44C6-BDDA-66BDE650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6217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under/over/singular/inconsistent/gluing obstruction 场景与 golden summary 扩展。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22388F-7599-45C6-9929-0A074E5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2095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BD701-DA81-4F71-8D76-7D9E5E53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90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9B1BB-B585-492F-979C-E00A0323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050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Step 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F928BD-5BA2-4C02-8090-72AF9E7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895475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CI 质量门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889621-9E76-4A91-8338-8AC345BB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6217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Python scene tests、CMake、CTest、fixture-corpus、CLI smoke 汇总成 run-quality-gates。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385366-907F-4C86-82A3-094F852A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36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10B6B7-5A60-40A1-BA9F-9B1D9C13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13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执行信号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77CC47-AD1E-4B76-B4A7-71F5454F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EBA485-64EE-4098-90BC-69009AB4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E0A620-73F8-4F71-8545-2BCBCE55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NUMERIC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674543-6173-4685-A2DE-7BBACE08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从占位到迭代求解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DBD910-BD35-481D-A0AB-ADC78FFD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局部求解开始产出 residual / Jacobian / rank / trace 等可复查证据。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2B3F1B-C68F-40E3-BA64-D4C89629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E702D3-16BE-4216-A897-C2C3459F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A4"/>
          </a:solidFill>
          <a:ln xmlns:a="http://schemas.openxmlformats.org/drawingml/2006/main" w="0">
            <a:solidFill>
              <a:srgbClr val="3157A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7CEEA0-E2CC-49ED-8D3B-B37D970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33850"/>
            <a:ext cx="2628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7A4"/>
                </a:solidFill>
                <a:latin typeface="Microsoft YaHei"/>
                <a:ea typeface="Microsoft YaHei"/>
                <a:cs typeface="Microsoft YaHei"/>
              </a:rPr>
              <a:t>SCENE IO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54B49D-5897-4ECB-BD69-C920FEAA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00550"/>
            <a:ext cx="2628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从文本到 JSON 行为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C26922-E017-4B76-885D-16C4F600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76800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场景持久化开始服务 fixture、promotion 和后续 GUI/replay 兼容。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728B13-8D94-4AC0-B184-8A50CEB5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B65322-4321-4770-AAD3-1ABEF93F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5F1B0A-CA93-456C-B27D-9B37880E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33850"/>
            <a:ext cx="2133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GATES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D9831C-B32F-4A6E-8D3F-D8A9BD82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005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从人工确认到默认门禁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2935D8-ADA8-44AF-81B4-EF089E40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76800"/>
            <a:ext cx="2133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Step 18 把本地验证路径收束为一个默认质量命令。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433DFB6-DDBC-407F-9444-874F026A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3E5B7F-4EF4-4604-816E-3CDB4F49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Step Report rows 14-18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181500-4579-4253-A746-E92B6E5A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62952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01FEFB-720D-4BCF-A503-A80ED379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7F5E973-B37A-41DD-8909-C8EFECE9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C46C10-3E21-416A-9DAD-6FC1DEA4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65D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65D87"/>
                </a:solidFill>
                <a:latin typeface="Microsoft YaHei"/>
                <a:ea typeface="Microsoft YaHei"/>
                <a:cs typeface="Microsoft YaHei"/>
              </a:rPr>
              <a:t>Step 19-27 / Scene-generation promotion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30185-5777-43C5-AF33-EAC2B2D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第三批工作把生成场景纳入公共求解证据边界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9F9D3-B93E-4390-B719-68281AA3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生成工具不再只是本地探索器；候选场景必须穿过公开 IO、runtime、diagnostics、viewer 和 promotion gates。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D3BF4-BBF9-4C49-9888-F2FDA11B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112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66F0E-08AA-43CE-A6B9-02014B4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9725"/>
            <a:ext cx="1089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工具模块化 + 公共 promotion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09AB4-FD95-4052-8F24-F7061BFF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BC44E-296E-4B94-B563-5D4CE710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FF9ED-18E9-46B7-924C-29B6F4AD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8467E-AF9F-42FA-BC10-7070CDE2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4312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公开 promotion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779CE-3656-4E0D-B3C4-BFD99574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生成候选接入 IO、kernel、runtime、diagnostics、viewer gate。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78976-2D17-4938-A521-644D8D1BC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26EFE9-9613-413B-B1F0-06E06328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353053-B71D-42D9-B3ED-6382A263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2D172-13BB-4444-8F67-1E42B5C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4312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Package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D52E9-24A8-4F03-8559-9FF9C0EC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0982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contracts、storage、promotion 从工具 facade 抽离。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F994E-3A9D-4670-A23C-D3A5BD2C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0A0D2-B2CE-42FE-843D-074CC8A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3835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6B91F-1040-46D1-9825-785B1209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8024FB-D684-45D5-A613-3E9F8A59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4312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Topology/model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E6FC1-9924-4AC0-A63D-638CF17D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0982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edge canonicalization、components、BCC、rigid-set rebuild。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82E36-9C95-4B8D-979E-CC8699BF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33151-1512-4F1E-8134-EC5D0DB6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CA01F9-6E99-431D-8F26-DF0916D6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AB1A5-4228-4743-BFDD-E319D630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0517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Validation/projection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8FE1ED-794E-4850-9C28-4DDD45B5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生成图验证和 public graph projection 独立测试。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CA8ED7-5B7B-42EC-84F5-D92A4424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4F83DE-4C7E-45DB-84F3-9EAA0329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8CA60A-5EAB-4449-93DB-3C42A07C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147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23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527342-2A3B-4CD5-9AC9-5C5B3A8C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0517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Parameter/reporting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D0AFB5-DF27-444B-B456-46AE598C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7187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deterministic layout、geometry values、summary、histogram。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7AF756-9F6B-4197-9242-0EA60EF9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040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9CFCF7-E913-4550-9754-4850487A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040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457F4-A0B5-4443-A64B-8E669FE5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0CA38F-D42F-4A42-A047-0C0E74E4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0517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Repair policy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284263-471B-4542-97AC-FEF254F5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7187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签名替换、刚体重染色、biconnectivity repair、structured edits。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606F4E-58DB-4C5F-8186-0C590D54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84D226-5133-421A-B59D-2B83623A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AD3EA7-9FC8-4E55-BCC1-8536DA31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24E472-C749-4884-9EBA-A56A0649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6722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Explorer/promotion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C6F119-DAC8-49CA-873B-803F3352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request normalization、coverage scoring、blocking rules、package assembly。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B04B82-7F8D-4D94-A97B-9908FA1C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386C2C-A8F2-40DB-8FAC-5F2B50AA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6412F4-C8A5-467F-AD36-25ADF8B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767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26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CB2C30-72DE-42CA-AB4F-79C9B6A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6722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Store 封装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EE1E53-01E7-4155-9CBA-C2C6F959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3392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SceneGenerationStore 统一 scratch path、graph IO、digest、trace。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B43A15-47AB-41BA-8AD0-9970BAB2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3505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B47B52-9FDE-45C7-B5A9-1DC44EA5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62450"/>
            <a:ext cx="350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5D87"/>
          </a:solidFill>
          <a:ln xmlns:a="http://schemas.openxmlformats.org/drawingml/2006/main" w="0">
            <a:solidFill>
              <a:srgbClr val="765D8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C6C8AF-1AB6-4C5C-8060-B694BEF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65D87"/>
                </a:solidFill>
                <a:latin typeface="Aptos Mono"/>
                <a:ea typeface="Aptos Mono"/>
                <a:cs typeface="Aptos Mono"/>
              </a:rPr>
              <a:t>Step 27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1FE6A5-6774-4D7D-A69B-60F1384C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67225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Gate hardening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54E29A6-752D-42B8-B394-C2B652E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33925"/>
            <a:ext cx="3276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优先 structured runtime/diagnostics evidence，减少 stdout fallback。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1FF39B-6B98-4697-8531-2D25D642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9528C75-065B-4500-9180-4CEA76C4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Step Report rows 19-27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2796CF-E29E-44AA-9EA1-D3F42600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3004509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17537A-0DAE-47DF-97CF-9A112109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3F3B5CF-AC3C-4126-8BA6-658C0D80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D99D36-DD52-4BC4-B72E-CA65CDFA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Step 28-40 / Rank evidence, public boundary, closure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86868-E757-42E0-89DC-3403B32A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第四批工作让 rank evidence 和公共报告成为系统级事实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6A44E-8FD0-4252-8565-D4FDE7D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28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这批工作把数值语义一路传递到 diagnostics、runtime、viewer、promotion gate 和阶段性可视化报告。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CB6A4-C79F-4E28-A089-B0A4052A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24C87-376F-457C-8396-885FFD01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1089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rank 语义修正到 Step 1-40 汇报闭环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AB1CD-5BD0-431F-8F7A-4D7AB3A4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B7039-16A1-48AA-8F73-46857818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DB38C-F11E-4524-84B6-E96FFFE8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521FF-9ABB-44A1-9A6E-E4E5A896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050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Free-column rank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FA09A-41B4-4402-920A-7092D2BF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区分 full/free/frozen dimension，rank/nullity 基于 free Jacobian columns。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26885-AF91-4330-9FBB-AEF2C7E8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090DC-4733-4B35-8787-B2942084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25A73-3610-4BE5-92FB-7559C489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14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D97D2-0FDA-4A02-A049-9DBA7E8F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050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Atlas 同步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E8D79-E738-44B8-A469-4B048794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717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Figure 1 更新 scene-generation、contract tools、free/frozen rank evidence。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E68E2-AEE6-448B-A5C9-01FB88A6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10A20-627D-4B6B-BF95-1655FE3D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ACA5C-306B-42F6-9052-50159A33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1AF72-31F4-4304-A93E-C90D3019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050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Diagnostics rank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257B7B-DB34-4CB1-87D7-448BEAE5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717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full/free/frozen rank dimensions 进入 diagnostics::RankReport。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D8620-D5E8-4F02-8B8C-67973F4E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19DE6-C3A0-47F8-9825-4BA823E7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096E7-E55B-44E4-A4E1-0023259E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A159C-4F7A-49C0-BE9C-99B10EC4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050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Runtime/viewer projection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D9B7AE-56DD-433A-A258-E2D4AE77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717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rank evidence projection 暴露给 UI、promotion 和 review tooling。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92CB04-34E7-4298-9745-393A0D1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7C071B-D77E-44AC-8372-E07E8795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D1CA66-70B3-4EF8-AF33-B908E9D5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EB36E-ADE7-4233-978E-20FBE912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Promotion rank gate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814372-7FE5-4EBD-A8A0-A5B8E5FA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promotion gates 显式消费 structured rank_evidence。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202E24-2A7C-4EB2-BB63-536E3DBD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7458DA-7285-4FC1-9DB4-E4B8C3E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F23296-1C59-4C4B-840C-1DE71157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86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87071F-3159-4647-9F4C-9DC1C7F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765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SolveDAG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68BA9A-64F1-4591-BCB9-F09E4C43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432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DAG validation、boundary dependency edges、accepted/backward tests。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802E2B-9B16-4096-83DF-56F98D87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5E6E13-6614-4673-9967-59BB7B4C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8E648F-7E91-4995-8979-2A849AD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228F76-6ABF-45C9-9B10-95787387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765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Post-local diagnostics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F998C4-C7E9-4B60-8E31-DA02EDD0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432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runtime result 携带 structured rank/residual evidence。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4BFCA4-10C6-4F6C-887C-A57C1F8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51CF24-5919-45FB-B712-F44AD5F3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718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29D79B-85D8-4D7C-8CD7-6A69F5B5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3F813D-E78F-4B26-B768-42E8E69D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765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Conflict deepening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51900A-81E4-4518-9218-252196C5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432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残差冲突实体 subject 与 duplicate distance redundancy evidence。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E124768-6096-4E17-925A-015DD547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05286C-738E-4836-806F-FFAB1D20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E16F92-3AF5-4514-961A-E4E899E3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344F92-500F-41CC-B08A-F373B7E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48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Numeric robustness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B1758A-5B8E-42E2-8914-2C8E4E8F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max-absolute residual tolerance；奇异 free Jacobian 不发布有限 condition。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2455B9-479E-43A2-AC8E-EF6A61F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0C97506-D0B4-472A-B3C8-56C8548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43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B6CA25-C980-4BF0-BD53-40CD167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57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58A709-2095-40C9-9BF7-0A802004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48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Fixture expansion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BD4699-A270-4017-AB9C-D2361626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148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boundary-frozen、tolerance-edge、separator-chain fixtures。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44B6D2-7B47-4DCA-AACF-A965927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81FDB0-0B58-4D92-97DA-FC418A2F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43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761FBB9-7EF6-40F2-A133-0EB7E2E3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38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64356C-58CF-4E41-B89F-93555788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48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Viewer evidence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DA8388-0E28-433F-86D2-F7F2986B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148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residual、conflict、redundancy、obstruction projection 暴露给人看。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CC9AF8-0962-4F5E-B227-A060DDA5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BBD48F2-CD84-401C-8E2A-759A2EA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94335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05EB0F1-3509-4D5D-99EF-939E6E62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576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39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25924F-252E-4A97-A933-2D7EA02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4812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Quality hardening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58F9006-B7AE-4D6D-A665-5479663C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1482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python.agentic_toolkit 与 ctest.public_evidence_chain 进入默认门。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0891643-C862-46F6-93E9-0894CBED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192579-14FE-4F67-83F4-5F22E011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solidFill>
              <a:srgbClr val="B7791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F9A130F-FAE4-48E5-8C71-D30475DE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B7791F"/>
                </a:solidFill>
                <a:latin typeface="Aptos Mono"/>
                <a:ea typeface="Aptos Mono"/>
                <a:cs typeface="Aptos Mono"/>
              </a:rPr>
              <a:t>Step 40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620875-73DC-4C6F-ADF4-733694EF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报告闭环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80A0D17-911E-4A27-97F6-8520B0E9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2438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Figure 71、atlas、roadmap、maturity 状态和报告系统重新同步。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CE6DA40-066A-4132-9DE3-B49124C2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C9B4147-12B7-4EE9-8A90-98238C98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Step Report rows 28-40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A5C46B-1C04-4428-A920-735A5577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05450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C962A7-19DB-40AF-A925-BCDB4A0F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69C17AD-2CA1-4E65-9246-ECF9CF7F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07A087-F74A-4098-8867-7A9F15DD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下一阶段候选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B0EC66-3094-40F5-A3D8-0FF8EAD0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Step 1-40 之后，最有价值的下一步是把证据链压到一个 showcase graph 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CDFF9-7EB1-44C3-84B9-B3F2A450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81100"/>
            <a:ext cx="1028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汇报意义：后续不再追加抽象说明，而是用一个可 inspect、可 promotion、可 viewer 投影的约束图证明系统能力。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F8945-6C5B-47A8-816C-CFCDE56E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514350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2ae7d3c934e84">
            <a:extLst>
              <a:ext uri="{96DAC541-7B7A-43D3-8B79-37D633B846F1}">
                <asvg:svgBlip xmlns:asvg="http://schemas.microsoft.com/office/drawing/2016/SVG/main" r:embed="Ra9d1abe09b9f48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" y="1885950"/>
            <a:ext cx="4724400" cy="3200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487825-9E77-4BBC-B432-F51C5785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4762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E6858-6D70-412B-8385-126176D9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1E321-9AC9-4D1E-9D64-814ADB65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SHOWCASE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23591-8B2B-45C6-A9BD-A961109D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434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一个图承载多条证据路径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16B6B-32C0-415D-9378-647EBE26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343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multiple rigid sets、separator/overlap、boundary-frozen variables、rank evidence、正负诊断变体、public promotion gates。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82B8C-7815-40A3-B308-F52B6C32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4762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232537-5661-4E9E-8F14-B05C86B5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71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053AB4-C9A3-4526-8004-08D286B1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REPORTING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3EA10-97B5-4F86-9309-00EA58F7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33850"/>
            <a:ext cx="4343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171717"/>
                </a:solidFill>
                <a:latin typeface="Microsoft YaHei UI"/>
                <a:ea typeface="Microsoft YaHei UI"/>
                <a:cs typeface="Microsoft YaHei UI"/>
              </a:rPr>
              <a:t>阶段性报告从文档进入演示资产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55199-DDD5-45AC-A11E-B348BF50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10100"/>
            <a:ext cx="43434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Figure 1 解释整体框架，Figure 71 解释 40 步闭环，Figure 72 则可以成为后续 demo 与验证的场景入口。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CE12A-D5DD-49F0-8AE9-6DA1CBFB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EC0"/>
          </a:solidFill>
          <a:ln xmlns:a="http://schemas.openxmlformats.org/drawingml/2006/main" w="0">
            <a:solidFill>
              <a:srgbClr val="D8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9857F-A42D-432A-8BA8-0945BA2A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151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5F5A52"/>
                </a:solidFill>
                <a:latin typeface="Microsoft YaHei"/>
                <a:ea typeface="Microsoft YaHei"/>
                <a:cs typeface="Microsoft YaHei"/>
              </a:rPr>
              <a:t>Source: docs/architecture/70-visualization/assets/figure72-gcs-integrated-showcase-scene.svg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9C9E1-11D1-483A-BC39-88BC1DB5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9605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F5A52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0713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2026-05-24T09:33:50.8300000Z</dcterms:created>
  <dcterms:modified xsi:type="dcterms:W3CDTF">2026-05-24T09:33:50.8300000Z</dcterms:modified>
</coreProperties>
</file>